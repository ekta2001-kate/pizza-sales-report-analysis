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1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Bhoir" userId="2548ce97d0404423" providerId="LiveId" clId="{22D391BF-3289-4B7C-86D0-5878AB7037C1}"/>
    <pc:docChg chg="undo custSel addSld delSld modSld">
      <pc:chgData name="Rohan Bhoir" userId="2548ce97d0404423" providerId="LiveId" clId="{22D391BF-3289-4B7C-86D0-5878AB7037C1}" dt="2026-06-11T08:38:41.545" v="1144" actId="20577"/>
      <pc:docMkLst>
        <pc:docMk/>
      </pc:docMkLst>
      <pc:sldChg chg="modSp">
        <pc:chgData name="Rohan Bhoir" userId="2548ce97d0404423" providerId="LiveId" clId="{22D391BF-3289-4B7C-86D0-5878AB7037C1}" dt="2026-06-11T07:33:13.679" v="0" actId="2711"/>
        <pc:sldMkLst>
          <pc:docMk/>
          <pc:sldMk cId="3324798756" sldId="264"/>
        </pc:sldMkLst>
        <pc:spChg chg="mod">
          <ac:chgData name="Rohan Bhoir" userId="2548ce97d0404423" providerId="LiveId" clId="{22D391BF-3289-4B7C-86D0-5878AB7037C1}" dt="2026-06-11T07:33:13.679" v="0" actId="2711"/>
          <ac:spMkLst>
            <pc:docMk/>
            <pc:sldMk cId="3324798756" sldId="264"/>
            <ac:spMk id="2" creationId="{BDA7A1CE-B9FC-CA3F-9568-FB37A5CEDA5C}"/>
          </ac:spMkLst>
        </pc:spChg>
      </pc:sldChg>
      <pc:sldChg chg="new del">
        <pc:chgData name="Rohan Bhoir" userId="2548ce97d0404423" providerId="LiveId" clId="{22D391BF-3289-4B7C-86D0-5878AB7037C1}" dt="2026-06-11T07:49:40.583" v="137" actId="2696"/>
        <pc:sldMkLst>
          <pc:docMk/>
          <pc:sldMk cId="3543614747" sldId="265"/>
        </pc:sldMkLst>
      </pc:sldChg>
      <pc:sldChg chg="addSp delSp modSp new mod">
        <pc:chgData name="Rohan Bhoir" userId="2548ce97d0404423" providerId="LiveId" clId="{22D391BF-3289-4B7C-86D0-5878AB7037C1}" dt="2026-06-11T07:56:50.729" v="228" actId="113"/>
        <pc:sldMkLst>
          <pc:docMk/>
          <pc:sldMk cId="804230129" sldId="266"/>
        </pc:sldMkLst>
        <pc:spChg chg="add del mod">
          <ac:chgData name="Rohan Bhoir" userId="2548ce97d0404423" providerId="LiveId" clId="{22D391BF-3289-4B7C-86D0-5878AB7037C1}" dt="2026-06-11T07:39:27.091" v="8"/>
          <ac:spMkLst>
            <pc:docMk/>
            <pc:sldMk cId="804230129" sldId="266"/>
            <ac:spMk id="2" creationId="{DE22513F-91A9-00A8-E052-FC55BDFC73DB}"/>
          </ac:spMkLst>
        </pc:spChg>
        <pc:spChg chg="add mod">
          <ac:chgData name="Rohan Bhoir" userId="2548ce97d0404423" providerId="LiveId" clId="{22D391BF-3289-4B7C-86D0-5878AB7037C1}" dt="2026-06-11T07:39:27.089" v="6"/>
          <ac:spMkLst>
            <pc:docMk/>
            <pc:sldMk cId="804230129" sldId="266"/>
            <ac:spMk id="4" creationId="{70C1F4D8-DAD2-A95E-9CA9-E501BBF2A32D}"/>
          </ac:spMkLst>
        </pc:spChg>
        <pc:spChg chg="add mod">
          <ac:chgData name="Rohan Bhoir" userId="2548ce97d0404423" providerId="LiveId" clId="{22D391BF-3289-4B7C-86D0-5878AB7037C1}" dt="2026-06-11T07:56:50.729" v="228" actId="113"/>
          <ac:spMkLst>
            <pc:docMk/>
            <pc:sldMk cId="804230129" sldId="266"/>
            <ac:spMk id="5" creationId="{7547CA00-1554-9EC5-DA97-EEDDB46A5DC6}"/>
          </ac:spMkLst>
        </pc:spChg>
        <pc:graphicFrameChg chg="add mod">
          <ac:chgData name="Rohan Bhoir" userId="2548ce97d0404423" providerId="LiveId" clId="{22D391BF-3289-4B7C-86D0-5878AB7037C1}" dt="2026-06-11T07:39:15.751" v="5"/>
          <ac:graphicFrameMkLst>
            <pc:docMk/>
            <pc:sldMk cId="804230129" sldId="266"/>
            <ac:graphicFrameMk id="3" creationId="{FD9420BC-87D7-5881-2A7B-8321EFB3BF2C}"/>
          </ac:graphicFrameMkLst>
        </pc:graphicFrameChg>
        <pc:graphicFrameChg chg="add mod">
          <ac:chgData name="Rohan Bhoir" userId="2548ce97d0404423" providerId="LiveId" clId="{22D391BF-3289-4B7C-86D0-5878AB7037C1}" dt="2026-06-11T07:46:36.414" v="16"/>
          <ac:graphicFrameMkLst>
            <pc:docMk/>
            <pc:sldMk cId="804230129" sldId="266"/>
            <ac:graphicFrameMk id="6" creationId="{0181B065-4878-F098-5905-BE0DE0B8A114}"/>
          </ac:graphicFrameMkLst>
        </pc:graphicFrameChg>
        <pc:graphicFrameChg chg="add mod">
          <ac:chgData name="Rohan Bhoir" userId="2548ce97d0404423" providerId="LiveId" clId="{22D391BF-3289-4B7C-86D0-5878AB7037C1}" dt="2026-06-11T07:46:36.414" v="16"/>
          <ac:graphicFrameMkLst>
            <pc:docMk/>
            <pc:sldMk cId="804230129" sldId="266"/>
            <ac:graphicFrameMk id="7" creationId="{85F3E63F-FCC5-A90C-4AE8-7A9B8BCBFAFF}"/>
          </ac:graphicFrameMkLst>
        </pc:graphicFrameChg>
        <pc:graphicFrameChg chg="add mod">
          <ac:chgData name="Rohan Bhoir" userId="2548ce97d0404423" providerId="LiveId" clId="{22D391BF-3289-4B7C-86D0-5878AB7037C1}" dt="2026-06-11T07:46:36.414" v="16"/>
          <ac:graphicFrameMkLst>
            <pc:docMk/>
            <pc:sldMk cId="804230129" sldId="266"/>
            <ac:graphicFrameMk id="8" creationId="{74191A14-5AC4-CC2C-6E94-24BA6B366F3B}"/>
          </ac:graphicFrameMkLst>
        </pc:graphicFrameChg>
        <pc:graphicFrameChg chg="add mod">
          <ac:chgData name="Rohan Bhoir" userId="2548ce97d0404423" providerId="LiveId" clId="{22D391BF-3289-4B7C-86D0-5878AB7037C1}" dt="2026-06-11T07:46:36.414" v="16"/>
          <ac:graphicFrameMkLst>
            <pc:docMk/>
            <pc:sldMk cId="804230129" sldId="266"/>
            <ac:graphicFrameMk id="9" creationId="{22C49715-4737-C305-F73A-80AB3E84F276}"/>
          </ac:graphicFrameMkLst>
        </pc:graphicFrameChg>
        <pc:graphicFrameChg chg="add mod">
          <ac:chgData name="Rohan Bhoir" userId="2548ce97d0404423" providerId="LiveId" clId="{22D391BF-3289-4B7C-86D0-5878AB7037C1}" dt="2026-06-11T07:46:36.414" v="16"/>
          <ac:graphicFrameMkLst>
            <pc:docMk/>
            <pc:sldMk cId="804230129" sldId="266"/>
            <ac:graphicFrameMk id="10" creationId="{723E69E5-AB2A-712B-9696-3A871F5EA2CC}"/>
          </ac:graphicFrameMkLst>
        </pc:graphicFrameChg>
      </pc:sldChg>
      <pc:sldChg chg="addSp modSp new mod">
        <pc:chgData name="Rohan Bhoir" userId="2548ce97d0404423" providerId="LiveId" clId="{22D391BF-3289-4B7C-86D0-5878AB7037C1}" dt="2026-06-11T08:09:58.045" v="281" actId="1440"/>
        <pc:sldMkLst>
          <pc:docMk/>
          <pc:sldMk cId="3865626990" sldId="267"/>
        </pc:sldMkLst>
        <pc:spChg chg="add mod">
          <ac:chgData name="Rohan Bhoir" userId="2548ce97d0404423" providerId="LiveId" clId="{22D391BF-3289-4B7C-86D0-5878AB7037C1}" dt="2026-06-11T08:06:38.864" v="244" actId="1076"/>
          <ac:spMkLst>
            <pc:docMk/>
            <pc:sldMk cId="3865626990" sldId="267"/>
            <ac:spMk id="2" creationId="{1F390901-0AC3-8D9B-AA43-B151689381A8}"/>
          </ac:spMkLst>
        </pc:spChg>
        <pc:picChg chg="add mod">
          <ac:chgData name="Rohan Bhoir" userId="2548ce97d0404423" providerId="LiveId" clId="{22D391BF-3289-4B7C-86D0-5878AB7037C1}" dt="2026-06-11T08:09:58.045" v="281" actId="1440"/>
          <ac:picMkLst>
            <pc:docMk/>
            <pc:sldMk cId="3865626990" sldId="267"/>
            <ac:picMk id="4" creationId="{3EE19580-699B-1C78-1C5D-264EBC7B33D9}"/>
          </ac:picMkLst>
        </pc:picChg>
      </pc:sldChg>
      <pc:sldChg chg="addSp modSp new mod">
        <pc:chgData name="Rohan Bhoir" userId="2548ce97d0404423" providerId="LiveId" clId="{22D391BF-3289-4B7C-86D0-5878AB7037C1}" dt="2026-06-11T08:17:16.022" v="595" actId="14100"/>
        <pc:sldMkLst>
          <pc:docMk/>
          <pc:sldMk cId="3019336704" sldId="268"/>
        </pc:sldMkLst>
        <pc:spChg chg="add mod">
          <ac:chgData name="Rohan Bhoir" userId="2548ce97d0404423" providerId="LiveId" clId="{22D391BF-3289-4B7C-86D0-5878AB7037C1}" dt="2026-06-11T08:08:03.315" v="269" actId="20577"/>
          <ac:spMkLst>
            <pc:docMk/>
            <pc:sldMk cId="3019336704" sldId="268"/>
            <ac:spMk id="2" creationId="{89470D8C-2DEC-F99C-2884-39E02E8DECB5}"/>
          </ac:spMkLst>
        </pc:spChg>
        <pc:picChg chg="add mod">
          <ac:chgData name="Rohan Bhoir" userId="2548ce97d0404423" providerId="LiveId" clId="{22D391BF-3289-4B7C-86D0-5878AB7037C1}" dt="2026-06-11T08:17:16.022" v="595" actId="14100"/>
          <ac:picMkLst>
            <pc:docMk/>
            <pc:sldMk cId="3019336704" sldId="268"/>
            <ac:picMk id="4" creationId="{A5A7678E-22FB-AF68-6A72-9702BC77D3D8}"/>
          </ac:picMkLst>
        </pc:picChg>
      </pc:sldChg>
      <pc:sldChg chg="addSp delSp modSp new mod">
        <pc:chgData name="Rohan Bhoir" userId="2548ce97d0404423" providerId="LiveId" clId="{22D391BF-3289-4B7C-86D0-5878AB7037C1}" dt="2026-06-11T08:17:01.026" v="592" actId="1440"/>
        <pc:sldMkLst>
          <pc:docMk/>
          <pc:sldMk cId="3137554568" sldId="269"/>
        </pc:sldMkLst>
        <pc:spChg chg="add del mod">
          <ac:chgData name="Rohan Bhoir" userId="2548ce97d0404423" providerId="LiveId" clId="{22D391BF-3289-4B7C-86D0-5878AB7037C1}" dt="2026-06-11T08:10:35.747" v="286"/>
          <ac:spMkLst>
            <pc:docMk/>
            <pc:sldMk cId="3137554568" sldId="269"/>
            <ac:spMk id="2" creationId="{0E009528-6AEC-4AAC-2052-29648B245165}"/>
          </ac:spMkLst>
        </pc:spChg>
        <pc:spChg chg="add mod">
          <ac:chgData name="Rohan Bhoir" userId="2548ce97d0404423" providerId="LiveId" clId="{22D391BF-3289-4B7C-86D0-5878AB7037C1}" dt="2026-06-11T08:10:35.745" v="284"/>
          <ac:spMkLst>
            <pc:docMk/>
            <pc:sldMk cId="3137554568" sldId="269"/>
            <ac:spMk id="4" creationId="{BC73C5C6-5BE5-BBF1-09CB-A4FB612075B1}"/>
          </ac:spMkLst>
        </pc:spChg>
        <pc:spChg chg="add del mod">
          <ac:chgData name="Rohan Bhoir" userId="2548ce97d0404423" providerId="LiveId" clId="{22D391BF-3289-4B7C-86D0-5878AB7037C1}" dt="2026-06-11T08:16:57.177" v="590" actId="1076"/>
          <ac:spMkLst>
            <pc:docMk/>
            <pc:sldMk cId="3137554568" sldId="269"/>
            <ac:spMk id="5" creationId="{4C8073B3-9C0D-CE59-0EC5-25F64B9C43F1}"/>
          </ac:spMkLst>
        </pc:spChg>
        <pc:graphicFrameChg chg="add mod">
          <ac:chgData name="Rohan Bhoir" userId="2548ce97d0404423" providerId="LiveId" clId="{22D391BF-3289-4B7C-86D0-5878AB7037C1}" dt="2026-06-11T08:10:33.648" v="283"/>
          <ac:graphicFrameMkLst>
            <pc:docMk/>
            <pc:sldMk cId="3137554568" sldId="269"/>
            <ac:graphicFrameMk id="3" creationId="{AC2D3389-9E29-5D49-7653-2DD81383422A}"/>
          </ac:graphicFrameMkLst>
        </pc:graphicFrameChg>
        <pc:picChg chg="add mod">
          <ac:chgData name="Rohan Bhoir" userId="2548ce97d0404423" providerId="LiveId" clId="{22D391BF-3289-4B7C-86D0-5878AB7037C1}" dt="2026-06-11T08:17:01.026" v="592" actId="1440"/>
          <ac:picMkLst>
            <pc:docMk/>
            <pc:sldMk cId="3137554568" sldId="269"/>
            <ac:picMk id="7" creationId="{53253763-3FE6-6D21-B1F4-8B32450C10A9}"/>
          </ac:picMkLst>
        </pc:picChg>
      </pc:sldChg>
      <pc:sldChg chg="addSp delSp modSp new mod">
        <pc:chgData name="Rohan Bhoir" userId="2548ce97d0404423" providerId="LiveId" clId="{22D391BF-3289-4B7C-86D0-5878AB7037C1}" dt="2026-06-11T08:23:16.551" v="870" actId="1440"/>
        <pc:sldMkLst>
          <pc:docMk/>
          <pc:sldMk cId="3784839806" sldId="270"/>
        </pc:sldMkLst>
        <pc:spChg chg="add del mod">
          <ac:chgData name="Rohan Bhoir" userId="2548ce97d0404423" providerId="LiveId" clId="{22D391BF-3289-4B7C-86D0-5878AB7037C1}" dt="2026-06-11T08:18:06.901" v="600"/>
          <ac:spMkLst>
            <pc:docMk/>
            <pc:sldMk cId="3784839806" sldId="270"/>
            <ac:spMk id="2" creationId="{A47B35A8-5D1B-5B68-B35D-8DF4E4CBCE4E}"/>
          </ac:spMkLst>
        </pc:spChg>
        <pc:spChg chg="add mod">
          <ac:chgData name="Rohan Bhoir" userId="2548ce97d0404423" providerId="LiveId" clId="{22D391BF-3289-4B7C-86D0-5878AB7037C1}" dt="2026-06-11T08:18:06.899" v="598"/>
          <ac:spMkLst>
            <pc:docMk/>
            <pc:sldMk cId="3784839806" sldId="270"/>
            <ac:spMk id="4" creationId="{F4C650A1-D183-6350-A3FF-0E1F29C0B54C}"/>
          </ac:spMkLst>
        </pc:spChg>
        <pc:spChg chg="add mod">
          <ac:chgData name="Rohan Bhoir" userId="2548ce97d0404423" providerId="LiveId" clId="{22D391BF-3289-4B7C-86D0-5878AB7037C1}" dt="2026-06-11T08:22:34.242" v="864" actId="20577"/>
          <ac:spMkLst>
            <pc:docMk/>
            <pc:sldMk cId="3784839806" sldId="270"/>
            <ac:spMk id="5" creationId="{50A87032-84EB-D21D-45C5-DE6C6896532F}"/>
          </ac:spMkLst>
        </pc:spChg>
        <pc:graphicFrameChg chg="add mod">
          <ac:chgData name="Rohan Bhoir" userId="2548ce97d0404423" providerId="LiveId" clId="{22D391BF-3289-4B7C-86D0-5878AB7037C1}" dt="2026-06-11T08:18:05.396" v="597"/>
          <ac:graphicFrameMkLst>
            <pc:docMk/>
            <pc:sldMk cId="3784839806" sldId="270"/>
            <ac:graphicFrameMk id="3" creationId="{8B579773-47F2-C865-7ECE-A0BBEE61BB8C}"/>
          </ac:graphicFrameMkLst>
        </pc:graphicFrameChg>
        <pc:picChg chg="add mod">
          <ac:chgData name="Rohan Bhoir" userId="2548ce97d0404423" providerId="LiveId" clId="{22D391BF-3289-4B7C-86D0-5878AB7037C1}" dt="2026-06-11T08:23:16.551" v="870" actId="1440"/>
          <ac:picMkLst>
            <pc:docMk/>
            <pc:sldMk cId="3784839806" sldId="270"/>
            <ac:picMk id="7" creationId="{9A3D0016-48CE-3837-C928-FA4218A1DBC9}"/>
          </ac:picMkLst>
        </pc:picChg>
      </pc:sldChg>
      <pc:sldChg chg="addSp delSp modSp new mod">
        <pc:chgData name="Rohan Bhoir" userId="2548ce97d0404423" providerId="LiveId" clId="{22D391BF-3289-4B7C-86D0-5878AB7037C1}" dt="2026-06-11T08:35:46.820" v="1127" actId="1440"/>
        <pc:sldMkLst>
          <pc:docMk/>
          <pc:sldMk cId="4183643316" sldId="271"/>
        </pc:sldMkLst>
        <pc:spChg chg="add del mod">
          <ac:chgData name="Rohan Bhoir" userId="2548ce97d0404423" providerId="LiveId" clId="{22D391BF-3289-4B7C-86D0-5878AB7037C1}" dt="2026-06-11T08:24:12.316" v="875"/>
          <ac:spMkLst>
            <pc:docMk/>
            <pc:sldMk cId="4183643316" sldId="271"/>
            <ac:spMk id="2" creationId="{D9E39E5E-DA7D-B5ED-5CA2-68EB2A10D433}"/>
          </ac:spMkLst>
        </pc:spChg>
        <pc:spChg chg="add mod">
          <ac:chgData name="Rohan Bhoir" userId="2548ce97d0404423" providerId="LiveId" clId="{22D391BF-3289-4B7C-86D0-5878AB7037C1}" dt="2026-06-11T08:24:12.314" v="873"/>
          <ac:spMkLst>
            <pc:docMk/>
            <pc:sldMk cId="4183643316" sldId="271"/>
            <ac:spMk id="4" creationId="{A278F196-8FF9-80B8-0EA4-71BC98D273A7}"/>
          </ac:spMkLst>
        </pc:spChg>
        <pc:spChg chg="add mod">
          <ac:chgData name="Rohan Bhoir" userId="2548ce97d0404423" providerId="LiveId" clId="{22D391BF-3289-4B7C-86D0-5878AB7037C1}" dt="2026-06-11T08:35:04.610" v="1120" actId="2711"/>
          <ac:spMkLst>
            <pc:docMk/>
            <pc:sldMk cId="4183643316" sldId="271"/>
            <ac:spMk id="5" creationId="{0B83BF0D-0191-3758-D984-408825F20512}"/>
          </ac:spMkLst>
        </pc:spChg>
        <pc:graphicFrameChg chg="add mod">
          <ac:chgData name="Rohan Bhoir" userId="2548ce97d0404423" providerId="LiveId" clId="{22D391BF-3289-4B7C-86D0-5878AB7037C1}" dt="2026-06-11T08:24:10.604" v="872"/>
          <ac:graphicFrameMkLst>
            <pc:docMk/>
            <pc:sldMk cId="4183643316" sldId="271"/>
            <ac:graphicFrameMk id="3" creationId="{FDA23E7A-2EDD-4556-70D3-5EC482B31D09}"/>
          </ac:graphicFrameMkLst>
        </pc:graphicFrameChg>
        <pc:picChg chg="add mod">
          <ac:chgData name="Rohan Bhoir" userId="2548ce97d0404423" providerId="LiveId" clId="{22D391BF-3289-4B7C-86D0-5878AB7037C1}" dt="2026-06-11T08:35:46.820" v="1127" actId="1440"/>
          <ac:picMkLst>
            <pc:docMk/>
            <pc:sldMk cId="4183643316" sldId="271"/>
            <ac:picMk id="7" creationId="{6FCF9A38-EFAF-2828-4478-88A9DEAEEA72}"/>
          </ac:picMkLst>
        </pc:picChg>
      </pc:sldChg>
      <pc:sldChg chg="addSp modSp new mod">
        <pc:chgData name="Rohan Bhoir" userId="2548ce97d0404423" providerId="LiveId" clId="{22D391BF-3289-4B7C-86D0-5878AB7037C1}" dt="2026-06-11T08:36:59.711" v="1136" actId="255"/>
        <pc:sldMkLst>
          <pc:docMk/>
          <pc:sldMk cId="621657542" sldId="272"/>
        </pc:sldMkLst>
        <pc:spChg chg="add mod">
          <ac:chgData name="Rohan Bhoir" userId="2548ce97d0404423" providerId="LiveId" clId="{22D391BF-3289-4B7C-86D0-5878AB7037C1}" dt="2026-06-11T08:36:59.711" v="1136" actId="255"/>
          <ac:spMkLst>
            <pc:docMk/>
            <pc:sldMk cId="621657542" sldId="272"/>
            <ac:spMk id="2" creationId="{754EF2DC-F672-0FF4-D268-6903DB343EAD}"/>
          </ac:spMkLst>
        </pc:spChg>
      </pc:sldChg>
      <pc:sldChg chg="addSp modSp new mod">
        <pc:chgData name="Rohan Bhoir" userId="2548ce97d0404423" providerId="LiveId" clId="{22D391BF-3289-4B7C-86D0-5878AB7037C1}" dt="2026-06-11T08:38:41.545" v="1144" actId="20577"/>
        <pc:sldMkLst>
          <pc:docMk/>
          <pc:sldMk cId="397254897" sldId="273"/>
        </pc:sldMkLst>
        <pc:spChg chg="add mod">
          <ac:chgData name="Rohan Bhoir" userId="2548ce97d0404423" providerId="LiveId" clId="{22D391BF-3289-4B7C-86D0-5878AB7037C1}" dt="2026-06-11T08:38:41.545" v="1144" actId="20577"/>
          <ac:spMkLst>
            <pc:docMk/>
            <pc:sldMk cId="397254897" sldId="273"/>
            <ac:spMk id="2" creationId="{959EE537-6469-4FAE-5FA4-7DDE17A0A42B}"/>
          </ac:spMkLst>
        </pc:spChg>
      </pc:sldChg>
      <pc:sldChg chg="addSp modSp new mod">
        <pc:chgData name="Rohan Bhoir" userId="2548ce97d0404423" providerId="LiveId" clId="{22D391BF-3289-4B7C-86D0-5878AB7037C1}" dt="2026-06-11T08:38:34.402" v="1143" actId="20577"/>
        <pc:sldMkLst>
          <pc:docMk/>
          <pc:sldMk cId="3039032970" sldId="274"/>
        </pc:sldMkLst>
        <pc:spChg chg="add mod">
          <ac:chgData name="Rohan Bhoir" userId="2548ce97d0404423" providerId="LiveId" clId="{22D391BF-3289-4B7C-86D0-5878AB7037C1}" dt="2026-06-11T08:38:34.402" v="1143" actId="20577"/>
          <ac:spMkLst>
            <pc:docMk/>
            <pc:sldMk cId="3039032970" sldId="274"/>
            <ac:spMk id="2" creationId="{08A43EE0-D1E4-3F65-1197-E54EBCAE82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92D47-4C04-4A33-95FC-4E02A8D1145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89800-F7C0-4EED-A93E-7FB4B9D64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2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689800-F7C0-4EED-A93E-7FB4B9D640B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54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4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08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36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7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13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6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277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990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08076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5437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531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0188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19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86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399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DBC8F-2654-DD9D-2525-92B966012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Report on Pizza Sales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29D61-A008-864D-45CD-5B85EE9D2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22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0044E-A735-6DCA-79A7-F8F903AD67AF}"/>
              </a:ext>
            </a:extLst>
          </p:cNvPr>
          <p:cNvSpPr txBox="1"/>
          <p:nvPr/>
        </p:nvSpPr>
        <p:spPr>
          <a:xfrm>
            <a:off x="688159" y="329937"/>
            <a:ext cx="1128388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latin typeface="Bell MT" panose="02020503060305020303" pitchFamily="18" charset="0"/>
              </a:rPr>
              <a:t>Table of Contents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IN" sz="3600" dirty="0">
              <a:latin typeface="Bell MT" panose="020205030603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Bahnschrift Light SemiCondensed" panose="020B0502040204020203" pitchFamily="34" charset="0"/>
              </a:rPr>
              <a:t>1.Project Overview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Bahnschrift Light SemiCondensed" panose="020B0502040204020203" pitchFamily="34" charset="0"/>
              </a:rPr>
              <a:t>2.Project Objectives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Bahnschrift Light SemiCondensed" panose="020B0502040204020203" pitchFamily="34" charset="0"/>
              </a:rPr>
              <a:t>3.</a:t>
            </a:r>
            <a:r>
              <a:rPr lang="en-IN" sz="2000" b="1" dirty="0">
                <a:latin typeface="Bahnschrift Light SemiCondensed" panose="020B0502040204020203" pitchFamily="34" charset="0"/>
              </a:rPr>
              <a:t> Tools and Technologies Used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Bahnschrift Light SemiCondensed" panose="020B0502040204020203" pitchFamily="34" charset="0"/>
              </a:rPr>
              <a:t>4. Data Source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Bahnschrift Light SemiCondensed" panose="020B0502040204020203" pitchFamily="34" charset="0"/>
              </a:rPr>
              <a:t>5. Data Preparation Process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latin typeface="Bahnschrift Light SemiCondensed" panose="020B0502040204020203" pitchFamily="34" charset="0"/>
              </a:rPr>
              <a:t>6. Data Transformation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Bahnschrift Light SemiCondensed" panose="020B0502040204020203" pitchFamily="34" charset="0"/>
              </a:rPr>
              <a:t>7.</a:t>
            </a:r>
            <a:r>
              <a:rPr lang="en-US" sz="2000" b="1" dirty="0">
                <a:latin typeface="Bahnschrift Light SemiCondensed" panose="020B0502040204020203" pitchFamily="34" charset="0"/>
              </a:rPr>
              <a:t> Dashboard Overview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ahnschrift Light SemiCondensed" panose="020B0502040204020203" pitchFamily="34" charset="0"/>
              </a:rPr>
              <a:t>8. Dashboard Visualizations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ahnschrift Light SemiCondensed" panose="020B0502040204020203" pitchFamily="34" charset="0"/>
              </a:rPr>
              <a:t>9. Key Business Insights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ahnschrift Light SemiCondensed" panose="020B0502040204020203" pitchFamily="34" charset="0"/>
              </a:rPr>
              <a:t>10. Business Recommendations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Bahnschrift Light SemiCondensed" panose="020B0502040204020203" pitchFamily="34" charset="0"/>
              </a:rPr>
              <a:t>11. Project Conclusion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Bell MT" panose="020205030603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Bell MT" panose="020205030603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Bell MT" panose="020205030603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>
              <a:latin typeface="Bell MT" panose="020205030603050203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42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09623-09DE-F366-BA88-C35BC668EEAA}"/>
              </a:ext>
            </a:extLst>
          </p:cNvPr>
          <p:cNvSpPr txBox="1"/>
          <p:nvPr/>
        </p:nvSpPr>
        <p:spPr>
          <a:xfrm>
            <a:off x="336222" y="263951"/>
            <a:ext cx="1151955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>
                <a:latin typeface="Bell MT" panose="02020503060305020303" pitchFamily="18" charset="0"/>
              </a:rPr>
              <a:t>Project Overview</a:t>
            </a:r>
          </a:p>
          <a:p>
            <a:pPr marL="342900" indent="-342900">
              <a:buAutoNum type="arabicPeriod"/>
            </a:pPr>
            <a:endParaRPr lang="en-US" b="1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latin typeface="Bahnschrift Light SemiCondensed" panose="020B0502040204020203" pitchFamily="34" charset="0"/>
              </a:rPr>
              <a:t>The Pizza Sales Analysis Dashboard is an interactive Business Intelligence solution developed in </a:t>
            </a:r>
            <a:r>
              <a:rPr lang="en-US" sz="2000" b="1" dirty="0">
                <a:latin typeface="Bahnschrift Light SemiCondensed" panose="020B0502040204020203" pitchFamily="34" charset="0"/>
              </a:rPr>
              <a:t>Microsoft Power BI</a:t>
            </a:r>
            <a:r>
              <a:rPr lang="en-US" sz="2000" dirty="0">
                <a:latin typeface="Bahnschrift Light SemiCondensed" panose="020B0502040204020203" pitchFamily="34" charset="0"/>
              </a:rPr>
              <a:t> to analyze pizza sales performance during the period </a:t>
            </a:r>
            <a:r>
              <a:rPr lang="en-US" sz="2000" b="1" dirty="0">
                <a:latin typeface="Bahnschrift Light SemiCondensed" panose="020B0502040204020203" pitchFamily="34" charset="0"/>
              </a:rPr>
              <a:t>January 2015 to December 2015</a:t>
            </a:r>
            <a:r>
              <a:rPr lang="en-US" sz="2000" dirty="0">
                <a:latin typeface="Bahnschrift Light SemiCondensed" panose="020B0502040204020203" pitchFamily="34" charset="0"/>
              </a:rPr>
              <a:t>. The dashboard provides management with a comprehensive view of revenue, order trends, customer purchasing behavior, product performance, and sales distribution across categories and sizes.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The primary purpose of this project is to transform raw transactional sales data into actionable insights that support data-driven decision-making, improve operational efficiency, and identify growth opportunities.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094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2DF41-F8A1-A489-819C-6D7C2AD8E017}"/>
              </a:ext>
            </a:extLst>
          </p:cNvPr>
          <p:cNvSpPr txBox="1"/>
          <p:nvPr/>
        </p:nvSpPr>
        <p:spPr>
          <a:xfrm>
            <a:off x="263951" y="282804"/>
            <a:ext cx="1149127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2</a:t>
            </a:r>
            <a:r>
              <a:rPr lang="en-US" sz="2400" b="1" dirty="0">
                <a:latin typeface="Bahnschrift Light SemiCondensed" panose="020B0502040204020203" pitchFamily="34" charset="0"/>
              </a:rPr>
              <a:t>. </a:t>
            </a:r>
            <a:r>
              <a:rPr lang="en-US" sz="3200" b="1" dirty="0">
                <a:latin typeface="Bell MT" panose="02020503060305020303" pitchFamily="18" charset="0"/>
              </a:rPr>
              <a:t>Project Objectives</a:t>
            </a:r>
          </a:p>
          <a:p>
            <a:endParaRPr lang="en-US" b="1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Analyze overall sales performance of the pizza business.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Monitor revenue and order trends over time.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Identify peak sales days and business hours.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Evaluate performance of pizza categories and sizes.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Discover best-selling and least-selling products.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Track customer ordering patterns.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Support strategic business decisions through visual analytics. 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Business Goals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Increase overall revenue.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Improve inventory planning.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Optimize staffing during peak hours.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Focus marketing efforts on high-performing products.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Enhance customer satisfaction through better product offerings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548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4D4FC-4F8C-A92A-575C-7F804B6F31F5}"/>
              </a:ext>
            </a:extLst>
          </p:cNvPr>
          <p:cNvSpPr txBox="1"/>
          <p:nvPr/>
        </p:nvSpPr>
        <p:spPr>
          <a:xfrm>
            <a:off x="386499" y="348792"/>
            <a:ext cx="1144414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ell MT" panose="02020503060305020303" pitchFamily="18" charset="0"/>
              </a:rPr>
              <a:t>3.Tools and Technologies Used</a:t>
            </a:r>
          </a:p>
          <a:p>
            <a:endParaRPr lang="en-IN" dirty="0"/>
          </a:p>
          <a:p>
            <a:r>
              <a:rPr lang="en-IN" sz="2000" dirty="0">
                <a:latin typeface="Bahnschrift Light SemiCondensed" panose="020B0502040204020203" pitchFamily="34" charset="0"/>
              </a:rPr>
              <a:t>• Power BI Desktop and Power BI Service</a:t>
            </a:r>
          </a:p>
          <a:p>
            <a:endParaRPr lang="en-IN" sz="2000" dirty="0">
              <a:latin typeface="Bahnschrift Light SemiCondensed" panose="020B0502040204020203" pitchFamily="34" charset="0"/>
            </a:endParaRP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• SSMS (SQL Server Management Studio)</a:t>
            </a:r>
          </a:p>
          <a:p>
            <a:endParaRPr lang="en-IN" sz="2000" dirty="0">
              <a:latin typeface="Bahnschrift Light SemiCondensed" panose="020B0502040204020203" pitchFamily="34" charset="0"/>
            </a:endParaRP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• MySQL Server</a:t>
            </a:r>
          </a:p>
          <a:p>
            <a:endParaRPr lang="en-IN" sz="2000" dirty="0">
              <a:latin typeface="Bahnschrift Light SemiCondensed" panose="020B0502040204020203" pitchFamily="34" charset="0"/>
            </a:endParaRP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• DAX (Data Analysis Expressions)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03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9F1A17-7564-8F34-C831-F1228538BB8F}"/>
              </a:ext>
            </a:extLst>
          </p:cNvPr>
          <p:cNvSpPr txBox="1"/>
          <p:nvPr/>
        </p:nvSpPr>
        <p:spPr>
          <a:xfrm>
            <a:off x="245097" y="320511"/>
            <a:ext cx="1172694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ell MT" panose="02020503060305020303" pitchFamily="18" charset="0"/>
              </a:rPr>
              <a:t>4. Data Source</a:t>
            </a:r>
          </a:p>
          <a:p>
            <a:endParaRPr lang="en-IN" sz="3200" dirty="0">
              <a:latin typeface="Bell MT" panose="02020503060305020303" pitchFamily="18" charset="0"/>
            </a:endParaRPr>
          </a:p>
          <a:p>
            <a:r>
              <a:rPr lang="en-IN" sz="2000" b="1" dirty="0">
                <a:latin typeface="Bahnschrift Light SemiCondensed" panose="020B0502040204020203" pitchFamily="34" charset="0"/>
              </a:rPr>
              <a:t>Dataset Information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The dataset consists of pizza sales transactions containing: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Order ID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Order Date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Order Time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Pizza Name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Pizza Category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Pizza Size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Quantity Sold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Unit Price 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Total Price </a:t>
            </a:r>
          </a:p>
          <a:p>
            <a:endParaRPr lang="en-IN" sz="2000" b="1" dirty="0">
              <a:latin typeface="Bahnschrift Light SemiCondensed" panose="020B0502040204020203" pitchFamily="34" charset="0"/>
            </a:endParaRPr>
          </a:p>
          <a:p>
            <a:r>
              <a:rPr lang="en-IN" sz="2000" b="1" dirty="0">
                <a:latin typeface="Bahnschrift Light SemiCondensed" panose="020B0502040204020203" pitchFamily="34" charset="0"/>
              </a:rPr>
              <a:t>Source Type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CSV / Excel Files</a:t>
            </a:r>
          </a:p>
          <a:p>
            <a:endParaRPr lang="en-IN" sz="32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2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B6BAE7-7555-3A8D-0B99-AB20898E6F3F}"/>
              </a:ext>
            </a:extLst>
          </p:cNvPr>
          <p:cNvSpPr txBox="1"/>
          <p:nvPr/>
        </p:nvSpPr>
        <p:spPr>
          <a:xfrm>
            <a:off x="226243" y="339365"/>
            <a:ext cx="1167981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ell MT" panose="02020503060305020303" pitchFamily="18" charset="0"/>
              </a:rPr>
              <a:t>5. Data Preparation Process</a:t>
            </a:r>
          </a:p>
          <a:p>
            <a:endParaRPr lang="en-IN" sz="2000" b="1" dirty="0">
              <a:latin typeface="Bahnschrift Light SemiCondensed" panose="020B0502040204020203" pitchFamily="34" charset="0"/>
            </a:endParaRP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Data preparation was performed using </a:t>
            </a:r>
            <a:r>
              <a:rPr lang="en-IN" sz="2000" b="1" dirty="0">
                <a:latin typeface="Bahnschrift Light SemiCondensed" panose="020B0502040204020203" pitchFamily="34" charset="0"/>
              </a:rPr>
              <a:t>Power Query Editor</a:t>
            </a:r>
            <a:r>
              <a:rPr lang="en-IN" sz="2000" dirty="0">
                <a:latin typeface="Bahnschrift Light SemiCondensed" panose="020B0502040204020203" pitchFamily="34" charset="0"/>
              </a:rPr>
              <a:t>.</a:t>
            </a:r>
          </a:p>
          <a:p>
            <a:endParaRPr lang="en-IN" sz="2000" b="1" dirty="0">
              <a:latin typeface="Bahnschrift Light SemiCondensed" panose="020B0502040204020203" pitchFamily="34" charset="0"/>
            </a:endParaRPr>
          </a:p>
          <a:p>
            <a:r>
              <a:rPr lang="en-IN" sz="2000" b="1" dirty="0">
                <a:latin typeface="Bahnschrift Light SemiCondensed" panose="020B0502040204020203" pitchFamily="34" charset="0"/>
              </a:rPr>
              <a:t>Data Cleaning Activities</a:t>
            </a:r>
          </a:p>
          <a:p>
            <a:endParaRPr lang="en-IN" sz="2000" b="1" dirty="0">
              <a:latin typeface="Bahnschrift Light SemiCondensed" panose="020B0502040204020203" pitchFamily="34" charset="0"/>
            </a:endParaRP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1. Removed duplicate records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2. Handled missing/null values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3. Standardized date formats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4. Corrected data types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5.Removed unnecessary columns</a:t>
            </a:r>
          </a:p>
          <a:p>
            <a:r>
              <a:rPr lang="en-IN" sz="2000" dirty="0">
                <a:latin typeface="Bahnschrift Light SemiCondensed" panose="020B0502040204020203" pitchFamily="34" charset="0"/>
              </a:rPr>
              <a:t>6. Validated sales calculations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6595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A7A1CE-B9FC-CA3F-9568-FB37A5CEDA5C}"/>
                  </a:ext>
                </a:extLst>
              </p:cNvPr>
              <p:cNvSpPr txBox="1"/>
              <p:nvPr/>
            </p:nvSpPr>
            <p:spPr>
              <a:xfrm>
                <a:off x="254524" y="461913"/>
                <a:ext cx="1171751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b="1" dirty="0">
                    <a:latin typeface="Bell MT" panose="02020503060305020303" pitchFamily="18" charset="0"/>
                  </a:rPr>
                  <a:t>6.Data Transformation</a:t>
                </a:r>
              </a:p>
              <a:p>
                <a:endParaRPr lang="en-IN" b="1" dirty="0"/>
              </a:p>
              <a:p>
                <a:r>
                  <a:rPr lang="en-IN" sz="2000" dirty="0">
                    <a:latin typeface="Bahnschrift Light SemiCondensed" panose="020B0502040204020203" pitchFamily="34" charset="0"/>
                  </a:rPr>
                  <a:t>Created calculated columns and measures such as:</a:t>
                </a:r>
              </a:p>
              <a:p>
                <a:endParaRPr lang="en-IN" sz="2000" dirty="0">
                  <a:latin typeface="Bahnschrift Light SemiCondensed" panose="020B0502040204020203" pitchFamily="34" charset="0"/>
                </a:endParaRPr>
              </a:p>
              <a:p>
                <a:r>
                  <a:rPr lang="en-IN" sz="2000" b="1" dirty="0">
                    <a:latin typeface="Bahnschrift Light SemiCondensed" panose="020B0502040204020203" pitchFamily="34" charset="0"/>
                  </a:rPr>
                  <a:t>Revenue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𝑅𝑒𝑣𝑒𝑛𝑢𝑒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𝑄𝑢𝑎𝑛𝑡𝑖𝑡𝑦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𝑈𝑛𝑖𝑡𝑃𝑟𝑖𝑐𝑒</m:t>
                      </m:r>
                    </m:oMath>
                  </m:oMathPara>
                </a14:m>
                <a:endParaRPr lang="en-IN" sz="2000" dirty="0">
                  <a:latin typeface="Bahnschrift Light SemiCondensed" panose="020B0502040204020203" pitchFamily="34" charset="0"/>
                </a:endParaRPr>
              </a:p>
              <a:p>
                <a:endParaRPr lang="en-IN" sz="2000" b="1" dirty="0">
                  <a:latin typeface="Bahnschrift Light SemiCondensed" panose="020B0502040204020203" pitchFamily="34" charset="0"/>
                </a:endParaRPr>
              </a:p>
              <a:p>
                <a:endParaRPr lang="en-IN" sz="2000" b="1" dirty="0">
                  <a:latin typeface="Bahnschrift Light SemiCondensed" panose="020B0502040204020203" pitchFamily="34" charset="0"/>
                </a:endParaRPr>
              </a:p>
              <a:p>
                <a:r>
                  <a:rPr lang="en-IN" sz="2000" b="1" dirty="0">
                    <a:latin typeface="Bahnschrift Light SemiCondensed" panose="020B0502040204020203" pitchFamily="34" charset="0"/>
                  </a:rPr>
                  <a:t>Average Order Value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𝐴𝑣𝑒𝑟𝑎𝑔𝑒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𝑂𝑟𝑑𝑒𝑟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𝑉𝑎𝑙𝑢𝑒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𝑅𝑒𝑣𝑒𝑛𝑢𝑒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𝑂𝑟𝑑𝑒𝑟𝑠</m:t>
                      </m:r>
                    </m:oMath>
                  </m:oMathPara>
                </a14:m>
                <a:endParaRPr lang="en-IN" sz="2000" b="0" dirty="0">
                  <a:latin typeface="Bahnschrift Light SemiCondensed" panose="020B0502040204020203" pitchFamily="34" charset="0"/>
                </a:endParaRPr>
              </a:p>
              <a:p>
                <a:endParaRPr lang="en-IN" sz="2000" b="1" dirty="0">
                  <a:latin typeface="Bahnschrift Light SemiCondensed" panose="020B0502040204020203" pitchFamily="34" charset="0"/>
                </a:endParaRPr>
              </a:p>
              <a:p>
                <a:endParaRPr lang="en-IN" sz="2000" b="1" dirty="0">
                  <a:latin typeface="Bahnschrift Light SemiCondensed" panose="020B0502040204020203" pitchFamily="34" charset="0"/>
                </a:endParaRPr>
              </a:p>
              <a:p>
                <a:r>
                  <a:rPr lang="en-IN" sz="2000" b="1" dirty="0">
                    <a:latin typeface="Bahnschrift Light SemiCondensed" panose="020B0502040204020203" pitchFamily="34" charset="0"/>
                  </a:rPr>
                  <a:t>Average Pizzas per Order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𝐴𝑣𝑔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𝑃𝑖𝑧𝑧𝑎𝑠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𝑂𝑟𝑑𝑒𝑟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𝑃𝑖𝑧𝑧𝑎𝑠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𝑆𝑜𝑙𝑑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m:rPr>
                          <m:nor/>
                        </m:rPr>
                        <a:rPr lang="en-IN" sz="2000" i="1">
                          <a:latin typeface="Bahnschrift Light SemiCondensed" panose="020B0502040204020203" pitchFamily="34" charset="0"/>
                        </a:rPr>
                        <m:t> 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𝑂𝑟𝑑𝑒𝑟𝑠</m:t>
                      </m:r>
                    </m:oMath>
                  </m:oMathPara>
                </a14:m>
                <a:endParaRPr lang="en-IN" sz="2000" b="0" dirty="0">
                  <a:latin typeface="Bahnschrift Light SemiCondensed" panose="020B0502040204020203" pitchFamily="34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DA7A1CE-B9FC-CA3F-9568-FB37A5CED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24" y="461913"/>
                <a:ext cx="11717517" cy="4832092"/>
              </a:xfrm>
              <a:prstGeom prst="rect">
                <a:avLst/>
              </a:prstGeom>
              <a:blipFill>
                <a:blip r:embed="rId2"/>
                <a:stretch>
                  <a:fillRect l="-1353" t="-16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79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47CA00-1554-9EC5-DA97-EEDDB46A5DC6}"/>
              </a:ext>
            </a:extLst>
          </p:cNvPr>
          <p:cNvSpPr txBox="1"/>
          <p:nvPr/>
        </p:nvSpPr>
        <p:spPr>
          <a:xfrm>
            <a:off x="179109" y="197963"/>
            <a:ext cx="1138757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7. Dashboard Overview</a:t>
            </a:r>
          </a:p>
          <a:p>
            <a:endParaRPr lang="en-US" b="1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The dashboard provides a complete overview of pizza sales performance through KPIs and visualizations.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Key Performance Indicators (KPIs)</a:t>
            </a: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1.Total Revenue -    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$817.86K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2.Average Order Value -       </a:t>
            </a:r>
            <a:r>
              <a:rPr lang="en-IN" sz="2000" dirty="0">
                <a:latin typeface="Bahnschrift Light SemiCondensed" panose="020B0502040204020203" pitchFamily="34" charset="0"/>
              </a:rPr>
              <a:t>$38.31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3.Total Pizza Sold -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49,574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4.Total Orders -      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21,350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5.Average Pizza Per Order - </a:t>
            </a:r>
            <a:r>
              <a:rPr lang="en-IN" sz="2000" dirty="0">
                <a:latin typeface="Bahnschrift Light SemiCondensed" panose="020B0502040204020203" pitchFamily="34" charset="0"/>
              </a:rPr>
              <a:t>2.32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2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90901-0AC3-8D9B-AA43-B151689381A8}"/>
              </a:ext>
            </a:extLst>
          </p:cNvPr>
          <p:cNvSpPr txBox="1"/>
          <p:nvPr/>
        </p:nvSpPr>
        <p:spPr>
          <a:xfrm>
            <a:off x="273377" y="358218"/>
            <a:ext cx="1145356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8. Dashboard Visualizations</a:t>
            </a:r>
          </a:p>
          <a:p>
            <a:endParaRPr lang="en-US" b="1" dirty="0"/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A. Daily Trend for Total Orders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Displays order volume across weekdays.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Insights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Friday recorded the highest number of orders (3.5K).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Thursday and Saturday also showed strong demand.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Sunday had the lowest order volume. 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Business Recommendation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Increase staffing and inventory during weekends and evenings.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19580-699B-1C78-1C5D-264EBC7B3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206" y="1234249"/>
            <a:ext cx="3470385" cy="21947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65626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470D8C-2DEC-F99C-2884-39E02E8DECB5}"/>
              </a:ext>
            </a:extLst>
          </p:cNvPr>
          <p:cNvSpPr txBox="1"/>
          <p:nvPr/>
        </p:nvSpPr>
        <p:spPr>
          <a:xfrm>
            <a:off x="207390" y="320511"/>
            <a:ext cx="1171751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B. Monthly Trend for Total Orders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Shows monthly order fluctuations throughout the year.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Insights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July recorded the highest orders (1,935).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January and August also showed strong performance.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October had the lowest order volume. 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Business Recommendation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Launch promotional campaigns during low-performing months.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7678E-22FB-AF68-6A72-9702BC77D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272" y="1374325"/>
            <a:ext cx="3827283" cy="2386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933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8073B3-9C0D-CE59-0EC5-25F64B9C43F1}"/>
              </a:ext>
            </a:extLst>
          </p:cNvPr>
          <p:cNvSpPr txBox="1"/>
          <p:nvPr/>
        </p:nvSpPr>
        <p:spPr>
          <a:xfrm>
            <a:off x="386499" y="135791"/>
            <a:ext cx="111519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C. Sales Distribution by Pizza Category</a:t>
            </a:r>
          </a:p>
          <a:p>
            <a:endParaRPr lang="en-US" sz="3200" b="1" dirty="0">
              <a:latin typeface="Bell MT" panose="02020503060305020303" pitchFamily="18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Categories analyzed: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Classic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Supreme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Chicken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Veggie 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Insights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Category                         Sales </a:t>
            </a:r>
            <a:r>
              <a:rPr lang="en-US" sz="2000" b="1" dirty="0" err="1">
                <a:latin typeface="Bahnschrift Light SemiCondensed" panose="020B0502040204020203" pitchFamily="34" charset="0"/>
              </a:rPr>
              <a:t>Constribution</a:t>
            </a:r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Classic                 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26.91%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Supreme             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25.46%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Chicken               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23.96%</a:t>
            </a:r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Veggie                                 </a:t>
            </a:r>
            <a:r>
              <a:rPr lang="en-IN" sz="2000" dirty="0">
                <a:latin typeface="Bahnschrift Light SemiCondensed" panose="020B0502040204020203" pitchFamily="34" charset="0"/>
              </a:rPr>
              <a:t>23.68%</a:t>
            </a:r>
          </a:p>
          <a:p>
            <a:endParaRPr lang="en-IN" sz="2000" b="1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Key Finding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Classic pizzas generated the highest share of sales.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53763-3FE6-6D21-B1F4-8B32450C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724" y="1357400"/>
            <a:ext cx="3252247" cy="25641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37554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A87032-84EB-D21D-45C5-DE6C6896532F}"/>
              </a:ext>
            </a:extLst>
          </p:cNvPr>
          <p:cNvSpPr txBox="1"/>
          <p:nvPr/>
        </p:nvSpPr>
        <p:spPr>
          <a:xfrm>
            <a:off x="292231" y="414779"/>
            <a:ext cx="1118019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D. Sales Distribution by Pizza Size</a:t>
            </a:r>
          </a:p>
          <a:p>
            <a:endParaRPr lang="en-US" b="1" dirty="0"/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Insights               Contribution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Large                         45.89%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Medium                      30.49%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Regular                      21.77%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X-Large                      1.72%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XX-Large                    0.12%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Key Finding</a:t>
            </a:r>
          </a:p>
          <a:p>
            <a:endParaRPr lang="en-US" sz="2000" b="1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Large-sized pizzas are the most preferred by customers</a:t>
            </a:r>
            <a:r>
              <a:rPr lang="en-US" dirty="0"/>
              <a:t>.</a:t>
            </a:r>
          </a:p>
          <a:p>
            <a:endParaRPr lang="en-US" b="1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3D0016-48CE-3837-C928-FA4218A1D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29" y="1274562"/>
            <a:ext cx="3497344" cy="24113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84839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83BF0D-0191-3758-D984-408825F20512}"/>
              </a:ext>
            </a:extLst>
          </p:cNvPr>
          <p:cNvSpPr txBox="1"/>
          <p:nvPr/>
        </p:nvSpPr>
        <p:spPr>
          <a:xfrm>
            <a:off x="339365" y="273377"/>
            <a:ext cx="1143471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E. Total Pizzas Sold by Category</a:t>
            </a:r>
          </a:p>
          <a:p>
            <a:endParaRPr lang="en-US" sz="3200" b="1" dirty="0">
              <a:latin typeface="Bell MT" panose="02020503060305020303" pitchFamily="18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Category                 Quantity sold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Classic                       14,888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Supreme                    11,987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Veggie                        11,649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Chicken                      11,050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Key Finding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Classic Pizza Category is the top-selling category.</a:t>
            </a:r>
          </a:p>
          <a:p>
            <a:endParaRPr lang="en-IN" sz="2000" dirty="0">
              <a:latin typeface="Bahnschrift Light SemiCondensed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F9A38-EFAF-2828-4478-88A9DEAE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30" y="1387684"/>
            <a:ext cx="3431356" cy="21567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364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4EF2DC-F672-0FF4-D268-6903DB343EAD}"/>
              </a:ext>
            </a:extLst>
          </p:cNvPr>
          <p:cNvSpPr txBox="1"/>
          <p:nvPr/>
        </p:nvSpPr>
        <p:spPr>
          <a:xfrm>
            <a:off x="490194" y="329938"/>
            <a:ext cx="1104821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9. Key Business Insights</a:t>
            </a:r>
          </a:p>
          <a:p>
            <a:endParaRPr lang="en-US" b="1" dirty="0"/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Customer Behavior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Customers prefer ordering during weekends.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Evening periods generate maximum sales.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Average customer purchases approximately 2 pizzas per order. 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Product Performance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Classic pizzas dominate sales volume.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Large-sized pizzas contribute nearly half of total sales.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Supreme and Veggie categories maintain consistent demand. </a:t>
            </a:r>
          </a:p>
          <a:p>
            <a:endParaRPr lang="en-US" sz="2000" dirty="0">
              <a:latin typeface="Bahnschrift Light SemiCondensed" panose="020B0502040204020203" pitchFamily="34" charset="0"/>
            </a:endParaRP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Seasonal Trends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July is the strongest sales month.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October experiences a noticeable decline in orders.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Sales remain relatively stable throughout the year.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657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9EE537-6469-4FAE-5FA4-7DDE17A0A42B}"/>
              </a:ext>
            </a:extLst>
          </p:cNvPr>
          <p:cNvSpPr txBox="1"/>
          <p:nvPr/>
        </p:nvSpPr>
        <p:spPr>
          <a:xfrm>
            <a:off x="359789" y="414779"/>
            <a:ext cx="1147242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10. Business Recommendations</a:t>
            </a:r>
          </a:p>
          <a:p>
            <a:endParaRPr lang="en-US" b="1" dirty="0"/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Revenue Growth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Promote high-margin Classic pizzas.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Introduce combo offers featuring Large pizzas. </a:t>
            </a: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Inventory Optimization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Maintain higher stock levels for top-selling categories.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Reduce inventory for low-demand XL and XXL sizes. </a:t>
            </a: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Marketing Strategy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Run promotional campaigns during September and October.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Launch weekend-focused marketing offers. </a:t>
            </a: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Operational Efficiency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Schedule additional staff on Fridays and Saturdays. </a:t>
            </a:r>
          </a:p>
          <a:p>
            <a:r>
              <a:rPr lang="en-US" sz="2000" dirty="0">
                <a:latin typeface="Bahnschrift Light SemiCondensed" panose="020B0502040204020203" pitchFamily="34" charset="0"/>
              </a:rPr>
              <a:t>Improve delivery capacity during peak hours.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254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43EE0-D1E4-3F65-1197-E54EBCAE8272}"/>
              </a:ext>
            </a:extLst>
          </p:cNvPr>
          <p:cNvSpPr txBox="1"/>
          <p:nvPr/>
        </p:nvSpPr>
        <p:spPr>
          <a:xfrm>
            <a:off x="546755" y="367645"/>
            <a:ext cx="1114248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ll MT" panose="02020503060305020303" pitchFamily="18" charset="0"/>
              </a:rPr>
              <a:t>11. Project Conclusion</a:t>
            </a:r>
          </a:p>
          <a:p>
            <a:endParaRPr lang="en-US" b="1" dirty="0"/>
          </a:p>
          <a:p>
            <a:r>
              <a:rPr lang="en-US" sz="2000" dirty="0">
                <a:latin typeface="Bahnschrift Light SemiCondensed" panose="020B0502040204020203" pitchFamily="34" charset="0"/>
              </a:rPr>
              <a:t>The Pizza Sales Dashboard successfully converts raw sales data into meaningful business insights. The analysis reveals that </a:t>
            </a:r>
            <a:r>
              <a:rPr lang="en-US" sz="2000" b="1" dirty="0">
                <a:latin typeface="Bahnschrift Light SemiCondensed" panose="020B0502040204020203" pitchFamily="34" charset="0"/>
              </a:rPr>
              <a:t>Classic pizzas and Large sizes are the major revenue drivers</a:t>
            </a:r>
            <a:r>
              <a:rPr lang="en-US" sz="2000" dirty="0">
                <a:latin typeface="Bahnschrift Light SemiCondensed" panose="020B0502040204020203" pitchFamily="34" charset="0"/>
              </a:rPr>
              <a:t>, while </a:t>
            </a:r>
            <a:r>
              <a:rPr lang="en-US" sz="2000" b="1" dirty="0">
                <a:latin typeface="Bahnschrift Light SemiCondensed" panose="020B0502040204020203" pitchFamily="34" charset="0"/>
              </a:rPr>
              <a:t>weekends and evenings generate the highest customer demand</a:t>
            </a:r>
            <a:r>
              <a:rPr lang="en-US" sz="2000" dirty="0">
                <a:latin typeface="Bahnschrift Light SemiCondensed" panose="020B0502040204020203" pitchFamily="34" charset="0"/>
              </a:rPr>
              <a:t>. By leveraging these insights, management can optimize inventory, improve staffing, enhance marketing effectiveness, and ultimately increase profitability and customer satisfaction.</a:t>
            </a:r>
          </a:p>
          <a:p>
            <a:r>
              <a:rPr lang="en-US" sz="2000" b="1" dirty="0">
                <a:latin typeface="Bahnschrift Light SemiCondensed" panose="020B0502040204020203" pitchFamily="34" charset="0"/>
              </a:rPr>
              <a:t>Overall Outcome:</a:t>
            </a:r>
            <a:r>
              <a:rPr lang="en-US" sz="2000" dirty="0">
                <a:latin typeface="Bahnschrift Light SemiCondensed" panose="020B0502040204020203" pitchFamily="34" charset="0"/>
              </a:rPr>
              <a:t> The dashboard serves as a powerful decision-support tool for monitoring sales performance and driving business growth.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032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37F9DB-5EC2-DE2C-CF58-32F99BF1AC21}"/>
              </a:ext>
            </a:extLst>
          </p:cNvPr>
          <p:cNvSpPr txBox="1"/>
          <p:nvPr/>
        </p:nvSpPr>
        <p:spPr>
          <a:xfrm>
            <a:off x="603316" y="461914"/>
            <a:ext cx="958706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ell MT" panose="02020503060305020303" pitchFamily="18" charset="0"/>
              </a:rPr>
              <a:t>Thank You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latin typeface="Bahnschrift Light SemiCondensed" panose="020B0502040204020203" pitchFamily="34" charset="0"/>
              </a:rPr>
              <a:t>Questions &amp; Answers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4619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121</TotalTime>
  <Words>907</Words>
  <Application>Microsoft Office PowerPoint</Application>
  <PresentationFormat>Widescreen</PresentationFormat>
  <Paragraphs>210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Bahnschrift Light SemiCondensed</vt:lpstr>
      <vt:lpstr>Bell MT</vt:lpstr>
      <vt:lpstr>Calibri</vt:lpstr>
      <vt:lpstr>Cambria Math</vt:lpstr>
      <vt:lpstr>Century Gothic</vt:lpstr>
      <vt:lpstr>Wingdings</vt:lpstr>
      <vt:lpstr>Wingdings 3</vt:lpstr>
      <vt:lpstr>Ion</vt:lpstr>
      <vt:lpstr>Report on Pizza Sales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Bhoir</dc:creator>
  <cp:lastModifiedBy>Rohan Bhoir</cp:lastModifiedBy>
  <cp:revision>3</cp:revision>
  <dcterms:created xsi:type="dcterms:W3CDTF">2026-06-11T06:54:49Z</dcterms:created>
  <dcterms:modified xsi:type="dcterms:W3CDTF">2026-06-11T10:31:04Z</dcterms:modified>
</cp:coreProperties>
</file>